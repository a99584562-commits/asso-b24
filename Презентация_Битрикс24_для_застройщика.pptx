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65592" y="2651760"/>
            <a:ext cx="6400800" cy="64008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411480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ЗАСТРОЙЩИКА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Битрикс24</a:t>
            </a:r>
            <a:endParaRPr lang="en-US" sz="6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застройщика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управления девелопментом: от первого звонка покупателя до передачи ключей — и весь внутренний контур стройки в одном окне.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97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58978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5897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58978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5897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  ·   02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НАЧИНАЕТСЯ ПОРЯДОК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сегодня теряются деньги и время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Знакомо? Эти четыре боли есть почти у каждого регионального девелопера. Битрикс24 закрывает их единой средой.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26694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52400" dist="50800" dir="5400000">
              <a:srgbClr val="8893B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8072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52044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 стоит дорого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3977640"/>
            <a:ext cx="4681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с ЦИАН, Авито, Домклика обходится в тысячи рублей — а часть просто теряется в мессенджерах и блокнотах.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2514600"/>
            <a:ext cx="526694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935480000" dist="645160000" dir="324000000000">
              <a:srgbClr val="8893B0">
                <a:alpha val="22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5392" y="280720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65392" y="352044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цикл сделки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65392" y="3977640"/>
            <a:ext cx="4681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→ ДДУ → ипотека → передача растягиваются на месяцы. Без системы не понять, где «застряла» сделка.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544568"/>
            <a:ext cx="526694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4580596000000" dist="8193532000000" dir="19440000000000000">
              <a:srgbClr val="8893B0">
                <a:alpha val="22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8371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5550408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размазаны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2688" y="6007608"/>
            <a:ext cx="4681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у продаж, переписки у прораба, договоры у юриста. Единой картины по объекту нет ни у кого.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4544568"/>
            <a:ext cx="526694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12173569200000000" dist="104057856400000000" dir="1.1664e+21">
              <a:srgbClr val="8893B0">
                <a:alpha val="22000000000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48371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65392" y="5550408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 и продажи врозь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565392" y="6007608"/>
            <a:ext cx="4681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 не видит реальных сроков стройки, стройка — не видит обязательств перед дольщиками.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65592" y="2651760"/>
            <a:ext cx="6400800" cy="64008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ВОРОНКА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 ведётся от лида до ключей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абстрактная CRM, а воронка под девелопмент. Каждая сделка всегда на понятном этапе — руководитель видит, где она и сколько в ней застряла.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96460432884e+21" dist="1.32153477628e+21" dir="6.9984e+25">
              <a:srgbClr val="8893B0">
                <a:alpha val="2.2e+2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41248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любого канала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6312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5.0350474976268e+25" dist="1.6783491658756e+25" dir="4.19904e+30">
              <a:srgbClr val="8893B0">
                <a:alpha val="2.2e+2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24912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97480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/ Бронь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Встреча, выбор квартиры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2544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6.394510321986036e+29" dist="2.1315034406620118e+29" dir="2.519424e+35">
              <a:srgbClr val="8893B0">
                <a:alpha val="2.2e+3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81144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53712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ДДУ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53712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эскроу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08776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.121028108922265e+33" dist="2.707009369640755e+33" dir="1.5116544e+40">
              <a:srgbClr val="8893B0">
                <a:alpha val="2.2e+3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37376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9944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9944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в банки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0313705698331276e+38" dist="3.437901899443759e+37" dir="9.069926400000001e+44">
              <a:srgbClr val="8893B0">
                <a:alpha val="2.2e+4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66176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66176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Оплата, регистрация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2743200"/>
            <a:ext cx="1627632" cy="219456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3098406236880721e+42" dist="4.366135412293574e+41" dir="5.44195584e+49">
              <a:srgbClr val="8893B0">
                <a:alpha val="2.2e+4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4984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122408" y="370332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ключей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22408" y="42976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Акт, заселение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этапе — свои поля, задачи и автодействия: напомнить менеджеру, запросить документы, уведомить дольщика.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ТАК ЭТО ВЫГЛЯДИТ В БИТРИКС24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как канбан-доска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сделки на одном экране, по стадиям. Перетащил карточку — этап сменился, сумма по колонке пересчиталась.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0208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91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746504" cy="45720"/>
          </a:xfrm>
          <a:prstGeom prst="rect">
            <a:avLst/>
          </a:prstGeom>
          <a:solidFill>
            <a:srgbClr val="9AA7B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83280"/>
            <a:ext cx="45720" cy="658368"/>
          </a:xfrm>
          <a:prstGeom prst="rect">
            <a:avLst/>
          </a:prstGeom>
          <a:solidFill>
            <a:srgbClr val="9AA7B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74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Орлова Н.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37307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млн 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60520"/>
            <a:ext cx="45720" cy="658368"/>
          </a:xfrm>
          <a:prstGeom prst="rect">
            <a:avLst/>
          </a:prstGeom>
          <a:solidFill>
            <a:srgbClr val="9AA7B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25196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Гусев П.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50799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млн 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62072" y="2606040"/>
            <a:ext cx="20208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6791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99232" y="2971800"/>
            <a:ext cx="1746504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2999232" y="30266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млн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62072" y="338328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62072" y="338328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026664" y="3474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Седов А.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26664" y="37307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млн 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62072" y="416052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62072" y="416052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026664" y="425196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Лыкова И.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26664" y="450799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млн 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84064" y="2606040"/>
            <a:ext cx="20208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21224" y="26791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ДДУ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221224" y="2971800"/>
            <a:ext cx="1746504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221224" y="30266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млн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84064" y="338328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84064" y="3383280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5248656" y="3474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Зорин В.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48656" y="37307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млн ₽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06056" y="2606040"/>
            <a:ext cx="20208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3216" y="26791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Ипотека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443216" y="2971800"/>
            <a:ext cx="1746504" cy="45720"/>
          </a:xfrm>
          <a:prstGeom prst="rect">
            <a:avLst/>
          </a:prstGeom>
          <a:solidFill>
            <a:srgbClr val="F4A52F"/>
          </a:solidFill>
          <a:ln/>
        </p:spPr>
      </p:sp>
      <p:sp>
        <p:nvSpPr>
          <p:cNvPr id="43" name="Text 41"/>
          <p:cNvSpPr/>
          <p:nvPr/>
        </p:nvSpPr>
        <p:spPr>
          <a:xfrm>
            <a:off x="7443216" y="30266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млн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06056" y="338328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06056" y="3383280"/>
            <a:ext cx="45720" cy="658368"/>
          </a:xfrm>
          <a:prstGeom prst="rect">
            <a:avLst/>
          </a:prstGeom>
          <a:solidFill>
            <a:srgbClr val="F4A52F"/>
          </a:solidFill>
          <a:ln/>
        </p:spPr>
      </p:sp>
      <p:sp>
        <p:nvSpPr>
          <p:cNvPr id="46" name="Text 44"/>
          <p:cNvSpPr/>
          <p:nvPr/>
        </p:nvSpPr>
        <p:spPr>
          <a:xfrm>
            <a:off x="7470648" y="3474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Юдина С.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470648" y="37307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млн ₽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28048" y="2606040"/>
            <a:ext cx="20208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65208" y="26791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665208" y="2971800"/>
            <a:ext cx="174650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9665208" y="30266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млн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528048" y="3383280"/>
            <a:ext cx="2020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6200" dist="25400" dir="5400000">
              <a:srgbClr val="8893B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528048" y="338328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9692640" y="34747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Котов Д.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692640" y="37307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млн 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КАНАЛЫ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каналы лидов в одном окне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площадки и мессенджеры подключаются в один контакт-центр. Лид автоматически попадает в CRM с источником — ни одна заявка не теряется.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6634975920838516e+46" dist="5.544991973612839e+45" dir="3.2651735040000005e+54">
              <a:srgbClr val="8893B0">
                <a:alpha val="2.2e+5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5010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3464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застройщика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35858" y="283464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1126419419464913e+50" dist="7.042139806488305e+49" dir="1.9591041024000004e+59">
              <a:srgbClr val="8893B0">
                <a:alpha val="2.2e+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4458" y="315010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938778" y="283464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Авито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1636" y="283464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683055266272044e+54" dist="8.943517554240149e+53" dir="1.1754624614400003e+64">
              <a:srgbClr val="8893B0">
                <a:alpha val="2.2e+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0236" y="315010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734556" y="283464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ЦИАН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27414" y="283464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4074801881654956e+58" dist="1.1358267293884988e+58" dir="7.052774768640002e+68">
              <a:srgbClr val="8893B0">
                <a:alpha val="2.2e+6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56014" y="315010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530334" y="283464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Домклик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4.32749983897018e+62" dist="1.4424999463233936e+62" dir="4.2316648611840007e+73">
              <a:srgbClr val="8893B0">
                <a:alpha val="2.2e+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016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88620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35858" y="388620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5.495924795492128e+66" dist="1.83197493183071e+66" dir="2.5389989167104004e+78">
              <a:srgbClr val="8893B0">
                <a:alpha val="2.2000000000000002e+7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64458" y="42016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938778" y="388620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388620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6.979824490275003e+70" dist="2.3266081634250016e+70" dir="1.5233993500262402e+83">
              <a:srgbClr val="8893B0">
                <a:alpha val="2.2000000000000003e+8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0236" y="42016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734556" y="388620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27414" y="3886200"/>
            <a:ext cx="2521458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.864377102649254e+74" dist="2.954792367549752e+74" dir="9.14039610015744e+87">
              <a:srgbClr val="8893B0">
                <a:alpha val="2.2000000000000003e+8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56014" y="42016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9530334" y="3886200"/>
            <a:ext cx="1881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формы и Авито — нативно «из коробки». ЦИАН, Домклик и другие площадки — через готовые приложения Маркета Битрикс24.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СКВОЗНАЯ АНАЛИТИКА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какая реклама приносит сделки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связывает рекламный источник с реальными сделками и деньгами. Видно, какой канал кормит, а какой жжёт бюджет.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  <a:gridCol w="2286000"/>
                <a:gridCol w="18562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1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1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Лиды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1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Сделки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1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лида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1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Домклик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4 200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высокий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ЦИАН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6 800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средний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Авито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9 500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A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низкий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Контекст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5 100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высокий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за 2 клика: перелить бюджет с Авито на Домклик и контекст — те же деньги, вдвое больше сделок. Цифры иллюстративные.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  ·   08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КАЧЕСТВО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Телефония и контроль качества звонков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телефония внутри CRM. Каждый звонок записан и привязан к сделке. Руководитель отдела продаж слышит, как менеджеры отрабатывают дорогие лиды.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1257758920364552e+79" dist="3.752586306788185e+78" dir="5.484237660094465e+92">
              <a:srgbClr val="8893B0">
                <a:alpha val="2.2e+9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054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всех разговоров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92608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Привязана к карточке сделки и клиента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429735382886298e+83" dist="4.765784609620995e+82" dir="3.2905425960566786e+97">
              <a:srgbClr val="8893B0">
                <a:alpha val="2.2000000000000003e+9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3308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33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1056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менеджерам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97764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Длительность, пропущенные, конверсия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8157639362655985e+87" dist="6.052546454218663e+86" dir="1.9743255576340073e+102">
              <a:srgbClr val="8893B0">
                <a:alpha val="2.2000000000000003e+10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1846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157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502920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Чек-листы и скоринг по скрипту разговора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65592" y="2651760"/>
            <a:ext cx="6400800" cy="64008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  ·   09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· БЕЗ ДОРАБОТОК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коробки — сразу в работу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часть нужного есть в Битрикс24 сразу: задачи, проекты, чат, согласование документов. Настраивается мышкой, без программирования — вайбкод идёт уже сверху.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30602019905731e+91" dist="7.6867339968577025e+90" dir="1.1845953345804043e+107">
              <a:srgbClr val="8893B0">
                <a:alpha val="2.2000000000000003e+10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 проекты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Дедлайны, ответственные, чек-листы, Канбан и Гант — без доработок.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8264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9286456528027836e+95" dist="9.762152176009283e+94" dir="7.107572007482426e+111">
              <a:srgbClr val="8893B0">
                <a:alpha val="2.2000000000000003e+11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0872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звонки и видео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90872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переписка и совещания внутри портала, а не в личных мессенджерах.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7193799790595354e+99" dist="1.2397933263531789e+99" dir="4.2645432044894554e+116">
              <a:srgbClr val="8893B0">
                <a:alpha val="2.2000000000000005e+11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документов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49056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утверждения собирается штатным бизнес-процессом — без программиста.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4.72361257340561e+103" dist="1.574537524468537e+103" dir="2.5587259226936733e+121">
              <a:srgbClr val="8893B0">
                <a:alpha val="2.2000000000000006e+12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2688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 (БП)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32688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отпуска, согласования — визуальный конструктор сценариев в коробке.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98264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5.998987968225125e+107" dist="1.9996626560750422e+107" dir="1.535235553616204e+126">
              <a:srgbClr val="8893B0">
                <a:alpha val="2.2000000000000006e+12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90872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и база знаний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690872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Файлы, регламенты, шаблоны и CoPilot — всё в одном месте.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.618714719645908e+111" dist="2.5395715732153033e+111" dir="9.211413321697224e+130">
              <a:srgbClr val="8893B0">
                <a:alpha val="2.2000000000000004e+134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49056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8449056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449056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449056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чат и сделки со смартфона — удобно прорабу на объекте.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· СТРОЙКА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 как управляемый проект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дом — это проект с этапами, сроками и ответственными. Диаграмма Ганта показывает реальную картину, а отдел продаж видит честные сроки сдачи.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Котлован и фундамент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49040" y="2953512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953512"/>
            <a:ext cx="1403970" cy="310896"/>
          </a:xfrm>
          <a:prstGeom prst="roundRect">
            <a:avLst>
              <a:gd name="adj" fmla="val 2941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953512"/>
            <a:ext cx="14039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 / коробка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3520440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7013" y="3520440"/>
            <a:ext cx="2651943" cy="310896"/>
          </a:xfrm>
          <a:prstGeom prst="roundRect">
            <a:avLst>
              <a:gd name="adj" fmla="val 29412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97013" y="3520440"/>
            <a:ext cx="26519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Фасад и кровля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49040" y="4087368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336963" y="4087368"/>
            <a:ext cx="1715963" cy="310896"/>
          </a:xfrm>
          <a:prstGeom prst="roundRect">
            <a:avLst>
              <a:gd name="adj" fmla="val 29412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336963" y="4087368"/>
            <a:ext cx="17159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581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Инженерные сети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49040" y="4654296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804953" y="4654296"/>
            <a:ext cx="2027956" cy="310896"/>
          </a:xfrm>
          <a:prstGeom prst="roundRect">
            <a:avLst>
              <a:gd name="adj" fmla="val 29412"/>
            </a:avLst>
          </a:prstGeom>
          <a:solidFill>
            <a:srgbClr val="C7CEDF"/>
          </a:solidFill>
          <a:ln/>
        </p:spPr>
      </p:sp>
      <p:sp>
        <p:nvSpPr>
          <p:cNvPr id="23" name="Text 21"/>
          <p:cNvSpPr/>
          <p:nvPr/>
        </p:nvSpPr>
        <p:spPr>
          <a:xfrm>
            <a:off x="7804953" y="4654296"/>
            <a:ext cx="2027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148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Отделка МОП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49040" y="5221224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8922" y="5221224"/>
            <a:ext cx="1715963" cy="310896"/>
          </a:xfrm>
          <a:prstGeom prst="roundRect">
            <a:avLst>
              <a:gd name="adj" fmla="val 29412"/>
            </a:avLst>
          </a:prstGeom>
          <a:solidFill>
            <a:srgbClr val="C7CEDF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922" y="5221224"/>
            <a:ext cx="17159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Благоустройство и сдача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49040" y="5788152"/>
            <a:ext cx="7799832" cy="310896"/>
          </a:xfrm>
          <a:prstGeom prst="roundRect">
            <a:avLst>
              <a:gd name="adj" fmla="val 29412"/>
            </a:avLst>
          </a:prstGeom>
          <a:solidFill>
            <a:srgbClr val="EAEEF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0899" y="5788152"/>
            <a:ext cx="1247973" cy="310896"/>
          </a:xfrm>
          <a:prstGeom prst="roundRect">
            <a:avLst>
              <a:gd name="adj" fmla="val 29412"/>
            </a:avLst>
          </a:prstGeom>
          <a:solidFill>
            <a:srgbClr val="C7CEDF"/>
          </a:solidFill>
          <a:ln/>
        </p:spPr>
      </p:sp>
      <p:sp>
        <p:nvSpPr>
          <p:cNvPr id="31" name="Text 29"/>
          <p:cNvSpPr/>
          <p:nvPr/>
        </p:nvSpPr>
        <p:spPr>
          <a:xfrm>
            <a:off x="10300899" y="5788152"/>
            <a:ext cx="1247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· ЗАКУПКИ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Тендеры и закупки без хаоса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Тендеры и снабжение — в смарт-процессе. Прозрачно, кто и за какую сумму согласовал подрядчика. Никаких «договорились на словах».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9.675767693950304e+115" dist="3.2252558979834354e+115" dir="5.526847993018334e+135">
              <a:srgbClr val="8893B0">
                <a:alpha val="2.2000000000000005e+13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971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5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от прораба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материалы или подрядчик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47288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2288224971316886e+120" dist="4.0960749904389626e+119" dir="3.3161087958110005e+140">
              <a:srgbClr val="8893B0">
                <a:alpha val="2.2000000000000006e+14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21608" y="2971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3721608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21608" y="374904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5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сметы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721608" y="43434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утверждения суммы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5606045713572446e+124" dist="5.2020152378574823e+123" dir="1.9896652774866004e+145">
              <a:srgbClr val="8893B0">
                <a:alpha val="2.2000000000000004e+14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2971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65288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28816" y="374904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5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предложений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28816" y="43434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 среди поставщиков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61704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9819678056237005e+128" dist="6.606559352079002e+127" dir="1.1937991664919603e+150">
              <a:srgbClr val="8893B0">
                <a:alpha val="2.2000000000000004e+15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36024" y="2971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9336024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36024" y="374904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5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и оплата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36024" y="43434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 и закрытия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· ДОКУМЕНТЫ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Документооборот и согласования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ДДУ, договоры подряда, акты — формируются из шаблонов и согласуются по маршруту прямо в системе. Акты и подряд подписываются с контрагентами онлайн через Битрикс24.Подпись.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266944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5170991131420998e+132" dist="8.390330377140333e+131" dir="7.162794998951762e+154">
              <a:srgbClr val="8893B0">
                <a:alpha val="2.2000000000000003e+1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79476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документов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4251960"/>
            <a:ext cx="4681728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ДДУ, подряд и акты генерируются из полей сделки за секунды.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2788920"/>
            <a:ext cx="5266944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1967158736904667e+136" dist="1.0655719578968222e+136" dir="4.297676999371057e+159">
              <a:srgbClr val="8893B0">
                <a:alpha val="2.2000000000000003e+16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5392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65392" y="379476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(штатный БП)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65392" y="4251960"/>
            <a:ext cx="4681728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→ финансы → директор — бизнес-процессом из коробки, с контролем сроков.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266944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4.0598291595868925e+140" dist="1.3532763865289643e+140" dir="2.5786061996226343e+164">
              <a:srgbClr val="8893B0">
                <a:alpha val="2.2000000000000004e+16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9103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562356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Битрикс24.Подпись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2688" y="6080760"/>
            <a:ext cx="4681728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Акты и подряд — онлайн с контрагентами, ПЭП по 63-ФЗ.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4617720"/>
            <a:ext cx="5266944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5.155983032675354e+144" dist="1.7186610108917847e+144" dir="1.5471637197735807e+169">
              <a:srgbClr val="8893B0">
                <a:alpha val="2.2e+17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49103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65392" y="562356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регистрации ДДУ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565392" y="6080760"/>
            <a:ext cx="4681728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«подано в Росреестр» → «зарегистрировано».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ПРОЦЕССЫ · КОМАНДА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Команда, регламенты и онбординг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собирает компанию в одном месте: задачи, новости, база знаний и онбординг. Особенно ценно, когда открыты вакансии и приходят новые люди.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511296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6.548098451497699e+148" dist="2.1826994838325667e+148" dir="9.282982318641485e+173">
              <a:srgbClr val="8893B0">
                <a:alpha val="2.2000000000000003e+17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172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лента и чаты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4343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компании, опросы, обсуждение объектов — вместо разрозненных мессенджеров.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8264" y="2880360"/>
            <a:ext cx="3511296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8.316085033402078e+152" dist="2.77202834446736e+152" dir="5.569789391184891e+178">
              <a:srgbClr val="8893B0">
                <a:alpha val="2.2000000000000004e+18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3172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0872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90872" y="4343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 продаж, инструкции по стройке, шаблоны — всё в одном месте и под рукой.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2880360"/>
            <a:ext cx="3511296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056142799242064e+157" dist="3.520475997473547e+156" dir="3.3418736347109347e+183">
              <a:srgbClr val="8893B0">
                <a:alpha val="2.2000000000000003e+18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3172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новичков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49056" y="4343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сценарий адаптации: задачи, документы, доступы для каждой роли.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ВНУТРЯНКА   ·   15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· ДАШБОРДЫ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компания на одном экране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открывает один экран и видит компанию целиком: продажи, финансы, готовность объектов. Без планёрок и ручных отчётов.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48716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3413013550374212e+161" dist="4.471004516791404e+160" dir="2.0051241808265608e+188">
              <a:srgbClr val="8893B0">
                <a:alpha val="2.2000000000000004e+19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1089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214 млн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в работе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к плану квартала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47288" y="2788920"/>
            <a:ext cx="248716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703452720897525e+165" dist="5.678175736325083e+164" dir="1.2030745084959364e+193">
              <a:srgbClr val="8893B0">
                <a:alpha val="2.2000000000000006e+19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21608" y="31089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21608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сделок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21608" y="43891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на стадии ипотеки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2788920"/>
            <a:ext cx="248716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1633849555398568e+169" dist="7.211283185132856e+168" dir="7.218447050975619e+197">
              <a:srgbClr val="8893B0">
                <a:alpha val="2.2000000000000007e+20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28816" y="31089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28816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Дома №8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28816" y="43891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в графике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61704" y="2788920"/>
            <a:ext cx="248716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7474988935356184e+173" dist="9.158329645118728e+172" dir="4.3310682305853715e+202">
              <a:srgbClr val="8893B0">
                <a:alpha val="2.2000000000000006e+20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36024" y="31089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5 900 ₽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36024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лида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36024" y="43891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−21% за счёт аналитики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обновляются в реальном времени — из тех же сделок, задач и звонков, что ведут менеджеры и прорабы. Цифры иллюстративные.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65592" y="2651760"/>
            <a:ext cx="6400800" cy="64008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КЛИЕНТСКИЙ СЕРВИС   ·  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Клиентский сервис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  ·   17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· ПОСТПРОДАЖА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Гарантийный сервис после заселения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Отношения с дольщиком не заканчиваются сделкой. Гарантийные обращения после заселения ведутся как заявки — с исполнителем, сроком и контролем.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4893235947902355e+177" dist="1.1631078649300784e+177" dir="2.598640938351223e+207">
              <a:srgbClr val="8893B0">
                <a:alpha val="2.2000000000000007e+21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63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044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жильца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926080"/>
            <a:ext cx="3959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сайта, QR в подъезде или звонка — сразу в систему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994392" y="316382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9994392" y="31638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4.431440965383599e+181" dist="1.4771469884611996e+181" dir="1.5591845630107338e+212">
              <a:srgbClr val="8893B0">
                <a:alpha val="2.2000000000000008e+21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069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мастера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931920"/>
            <a:ext cx="3959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уходит ответственному со сроком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94392" y="416966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9994392" y="41696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09087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5.62793002603717e+185" dist="1.8759766753457235e+185" dir="9.355107378064403e+216">
              <a:srgbClr val="8893B0">
                <a:alpha val="2.200000000000001e+22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5074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и закрытие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60720" y="4937760"/>
            <a:ext cx="3959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Фотоотчёт, обратная связь, оценка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994392" y="517550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9994392" y="51755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  ·   18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· ЛИЧНЫЙ КАБИНЕТ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покупателя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Дольщик в любой момент видит статус своей квартиры: этап стройки, документы, графики оплат — как трекинг заказа в Ozon или CDEK. Меньше звонков в офис, выше доверие.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2743200"/>
            <a:ext cx="4782312" cy="3291840"/>
          </a:xfrm>
          <a:prstGeom prst="roundRect">
            <a:avLst>
              <a:gd name="adj" fmla="val 3889"/>
            </a:avLst>
          </a:prstGeom>
          <a:solidFill>
            <a:srgbClr val="241F47"/>
          </a:solidFill>
          <a:ln/>
          <a:effectLst>
            <a:outerShdw sx="100000" sy="100000" kx="0" ky="0" algn="bl" rotWithShape="0" blurRad="7.147471133067207e+189" dist="2.382490377689069e+189" dir="5.613064426838642e+221">
              <a:srgbClr val="8893B0">
                <a:alpha val="2.2000000000000008e+2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86600" y="301752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6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КВ. №42 · ВАШ ЖК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86600" y="329184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квартира строится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86600" y="395020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424928" y="393192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ДДУ заключён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433425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424928" y="431596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 завершён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86600" y="471830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24928" y="4700016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Фасад и окна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86600" y="510235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424928" y="508406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Отделка и сети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51592" y="5084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6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5486400"/>
            <a:ext cx="201168" cy="201168"/>
          </a:xfrm>
          <a:prstGeom prst="ellipse">
            <a:avLst/>
          </a:prstGeom>
          <a:solidFill>
            <a:srgbClr val="5A548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4928" y="5468112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ключей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53949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5394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85632" y="53949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85632" y="5394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оплат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84664" y="53949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884664" y="5394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  ·   19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ДЕМО · В ВЕБ-ВЕРСИИ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шахматка → бронь в CRM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Кликабельная шахматка квартир: выбор свободной квартиры на плане дома → авто-бронь, и статусы (свободна / бронь / продана) синхронны с CRM Битрикс24.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№70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75104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0128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EF1F7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45152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0176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9904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24928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50224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EF1F7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9952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59952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85248" y="283464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94976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94976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EF1F7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75104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084832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0128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9856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№60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19856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45152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0176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9904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89904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15200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2492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650224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59952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59952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985248" y="3694176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EF1F7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94976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094976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9808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975104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EF1F7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84832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084832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10128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19856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419856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45152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754880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980176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9904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№50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089904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15200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1ECFE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24928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№49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424928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650224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59952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№48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759952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985248" y="4553712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EDFCF4"/>
          </a:solidFill>
          <a:ln w="12700">
            <a:solidFill>
              <a:srgbClr val="E4E8F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094976" y="4645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№47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094976" y="4937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2к · 57 м²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40080" y="5943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1" name="Text 79"/>
          <p:cNvSpPr/>
          <p:nvPr/>
        </p:nvSpPr>
        <p:spPr>
          <a:xfrm>
            <a:off x="896112" y="5870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2468880" y="59436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3" name="Text 81"/>
          <p:cNvSpPr/>
          <p:nvPr/>
        </p:nvSpPr>
        <p:spPr>
          <a:xfrm>
            <a:off x="2724912" y="5870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297680" y="5943600"/>
            <a:ext cx="164592" cy="164592"/>
          </a:xfrm>
          <a:prstGeom prst="ellipse">
            <a:avLst/>
          </a:prstGeom>
          <a:solidFill>
            <a:srgbClr val="9AA7B0"/>
          </a:solidFill>
          <a:ln/>
        </p:spPr>
      </p:sp>
      <p:sp>
        <p:nvSpPr>
          <p:cNvPr id="85" name="Text 83"/>
          <p:cNvSpPr/>
          <p:nvPr/>
        </p:nvSpPr>
        <p:spPr>
          <a:xfrm>
            <a:off x="4553712" y="5870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Продана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ВАЙБКОД   ·   20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 КОРОБКИ · ВАЙБКОД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докрутить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Битрикс24 — гибкая платформа. То, чего нет в коробке, дорабатываем под ваши процессы. Вот примеры решений, которые можно развернуть под вас.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9.077288338995353e+193" dist="3.0257627796651175e+193" dir="3.367838656103185e+226">
              <a:srgbClr val="8893B0">
                <a:alpha val="2.2000000000000008e+23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шахматка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квартиры на плане с авто-бронью и статусом в CRM.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8264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1528156190524098e+198" dist="3.8427187301746993e+197" dir="2.020703193661911e+231">
              <a:srgbClr val="8893B0">
                <a:alpha val="2.200000000000001e+23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0872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дольщика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90872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стройки в стиле Ozon/CDEK: статус, документы, оплаты.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278892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4640758361965605e+202" dist="4.880252787321868e+201" dir="1.2124219161971466e+236">
              <a:srgbClr val="8893B0">
                <a:alpha val="2.200000000000001e+24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3081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план-факт продаж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49056" y="425196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домам и квартирам с целями и прогнозом.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8593763119696318e+206" dist="6.197921039898773e+205" dir="7.27453149718288e+240">
              <a:srgbClr val="8893B0">
                <a:alpha val="2.200000000000001e+24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2688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Подсказчик в карточке сделки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32688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и next-step для менеджера при работе со сделкой.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98264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3614079162014322e+210" dist="7.871359720671441e+209" dir="4.364718898309728e+245">
              <a:srgbClr val="8893B0">
                <a:alpha val="2.200000000000001e+25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90872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Ипотечный калькулятор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690872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на сайте, который создаёт готовый лид в Битрикс24.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4709160"/>
            <a:ext cx="3511296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2.9989880535758187e+214" dist="9.996626845252731e+213" dir="2.6188313389858368e+250">
              <a:srgbClr val="8893B0">
                <a:alpha val="2.200000000000001e+25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49056" y="50017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8449056" y="5001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449056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Авто-выгрузка на ЦИАН/Авито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449056" y="6172200"/>
            <a:ext cx="292608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 формируются из каталога квартир в CRM.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ВАЙБКОД   ·   21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ВАЙБКОД · ЖИВОЙ ПРИМЕР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Ипотечный калькулятор на сайт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считает платёж сам — и оставляет заявку. Лид с готовым расчётом сразу падает в Битрикс24.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1264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3.80871482804129e+218" dist="1.2695716093470969e+218" dir="1.571298803391502e+255">
              <a:srgbClr val="8893B0">
                <a:alpha val="2.200000000000001e+26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квартиры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6 000 000 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27355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E0E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3273552"/>
            <a:ext cx="2176272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4952" y="320954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Первоначальный взнос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405079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E0E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050792"/>
            <a:ext cx="1088136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1956816" y="39867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кредита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лет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828032"/>
            <a:ext cx="5440680" cy="91440"/>
          </a:xfrm>
          <a:prstGeom prst="roundRect">
            <a:avLst>
              <a:gd name="adj" fmla="val 50000"/>
            </a:avLst>
          </a:prstGeom>
          <a:solidFill>
            <a:srgbClr val="E0E5F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4828032"/>
            <a:ext cx="3264408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4133088" y="476402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Программа: Семейная 6%  ·  IT 5%  ·  Господдержка 8%  ·  Базовая 18%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2606040"/>
            <a:ext cx="4416552" cy="3383280"/>
          </a:xfrm>
          <a:prstGeom prst="roundRect">
            <a:avLst>
              <a:gd name="adj" fmla="val 3784"/>
            </a:avLst>
          </a:prstGeom>
          <a:solidFill>
            <a:srgbClr val="241F47"/>
          </a:solidFill>
          <a:ln/>
          <a:effectLst>
            <a:outerShdw sx="100000" sy="100000" kx="0" ky="0" algn="bl" rotWithShape="0" blurRad="4.8370678316124384e+222" dist="1.612355943870813e+222" dir="9.427792820349012e+259">
              <a:srgbClr val="8893B0">
                <a:alpha val="2.2000000000000007e+26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292608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ЕЖЕМЕСЯЧНЫЙ ПЛАТЁЖ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200400"/>
            <a:ext cx="3685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34 389 ₽/мес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498080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кредита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05672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4 800 000 ₽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98080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взнос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05672" y="4526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1 200 000 ₽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0" y="4937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05672" y="4937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· Семейная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98080" y="5440680"/>
            <a:ext cx="3685032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544068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Оставить заявку  →  лид в Битрикс24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34072" y="-2377440"/>
            <a:ext cx="7315200" cy="73152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65592" y="2651760"/>
            <a:ext cx="6400800" cy="6400800"/>
          </a:xfrm>
          <a:prstGeom prst="ellipse">
            <a:avLst/>
          </a:prstGeom>
          <a:solidFill>
            <a:srgbClr val="7C3AED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356616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91272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  ·  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· ДОРОЖНАЯ КАРТА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внедрения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«всё сразу», а понятными этапами с быстрым результатом уже на первом. Коробка — за дни, доработки — следом.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2487168" cy="26517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6.143076146147797e+226" dist="2.0476920487159326e+226" dir="5.656675692209407e+264">
              <a:srgbClr val="8893B0">
                <a:alpha val="2.200000000000001e+27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17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продаж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Воронка, каналы, телефония, обучение менеджеров.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1938528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недели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47288" y="2743200"/>
            <a:ext cx="2487168" cy="26517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7.801706705607703e+230" dist="2.6005689018692344e+230" dir="3.3940054153256444e+269">
              <a:srgbClr val="8893B0">
                <a:alpha val="2.200000000000001e+27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21608" y="3017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21608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контур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21608" y="4023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Стройка, закупки, документооборот, портал команды.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21608" y="4892040"/>
            <a:ext cx="1938528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3721608" y="48920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месяца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54496" y="2743200"/>
            <a:ext cx="2487168" cy="26517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9.908167516121783e+234" dist="3.3027225053739275e+234" dir="2.0364032491953868e+274">
              <a:srgbClr val="8893B0">
                <a:alpha val="2.200000000000001e+28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28816" y="3017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28816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сервис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28816" y="4023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аналитика, дашборды, гарантийный сервис.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28816" y="4892040"/>
            <a:ext cx="1938528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816" y="48920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недели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61704" y="2743200"/>
            <a:ext cx="2487168" cy="265176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4E8F3"/>
            </a:solidFill>
            <a:prstDash val="solid"/>
          </a:ln>
          <a:effectLst>
            <a:outerShdw sx="100000" sy="100000" kx="0" ky="0" algn="bl" rotWithShape="0" blurRad="1.2583372745474664e+239" dist="4.194457581824888e+238" dir="1.221841949517232e+279">
              <a:srgbClr val="8893B0">
                <a:alpha val="2.200000000000001e+28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36024" y="30175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36024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доработки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36024" y="4023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Шахматка, личный кабинет, интеграции с площадками.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36024" y="4892040"/>
            <a:ext cx="1938528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9336024" y="48920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проекту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Битрикс24 для застройщика</dc:title>
  <dc:subject>PptxGenJS Presentation</dc:subject>
  <dc:creator>ЛАЙМ</dc:creator>
  <cp:lastModifiedBy>ЛАЙМ</cp:lastModifiedBy>
  <cp:revision>1</cp:revision>
  <dcterms:created xsi:type="dcterms:W3CDTF">2026-06-02T09:20:49Z</dcterms:created>
  <dcterms:modified xsi:type="dcterms:W3CDTF">2026-06-02T09:20:49Z</dcterms:modified>
</cp:coreProperties>
</file>